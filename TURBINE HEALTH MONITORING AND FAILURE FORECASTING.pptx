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6"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450B48-FCDA-48F1-90AA-A48D68711574}" type="datetimeFigureOut">
              <a:rPr lang="en-IN" smtClean="0"/>
              <a:t>17-04-2026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13980B-BFBF-484E-82D4-E8B200535C1E}" type="slidenum">
              <a:rPr lang="en-IN" smtClean="0"/>
              <a:t>‹#›</a:t>
            </a:fld>
            <a:endParaRPr lang="en-IN"/>
          </a:p>
        </p:txBody>
      </p:sp>
    </p:spTree>
    <p:extLst>
      <p:ext uri="{BB962C8B-B14F-4D97-AF65-F5344CB8AC3E}">
        <p14:creationId xmlns:p14="http://schemas.microsoft.com/office/powerpoint/2010/main" val="2833182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IN"/>
            </a:p>
          </p:txBody>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IN"/>
            </a:p>
          </p:txBody>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IN"/>
            </a:p>
          </p:txBody>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IN"/>
            </a:p>
          </p:txBody>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IN"/>
            </a:p>
          </p:txBody>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IN"/>
            </a:p>
          </p:txBody>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032155A-B2BA-4E07-8180-FAEABB4FFD10}" type="datetimeFigureOut">
              <a:rPr lang="en-IN" smtClean="0"/>
              <a:t>17-04-2026</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67DDFA4D-1D01-4EDA-8520-C50190E4E356}" type="slidenum">
              <a:rPr lang="en-IN" smtClean="0"/>
              <a:t>‹#›</a:t>
            </a:fld>
            <a:endParaRPr lang="en-IN"/>
          </a:p>
        </p:txBody>
      </p:sp>
    </p:spTree>
    <p:extLst>
      <p:ext uri="{BB962C8B-B14F-4D97-AF65-F5344CB8AC3E}">
        <p14:creationId xmlns:p14="http://schemas.microsoft.com/office/powerpoint/2010/main" val="8645513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32155A-B2BA-4E07-8180-FAEABB4FFD10}" type="datetimeFigureOut">
              <a:rPr lang="en-IN" smtClean="0"/>
              <a:t>17-04-2026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67DDFA4D-1D01-4EDA-8520-C50190E4E356}" type="slidenum">
              <a:rPr lang="en-IN" smtClean="0"/>
              <a:t>‹#›</a:t>
            </a:fld>
            <a:endParaRPr lang="en-IN"/>
          </a:p>
        </p:txBody>
      </p:sp>
    </p:spTree>
    <p:extLst>
      <p:ext uri="{BB962C8B-B14F-4D97-AF65-F5344CB8AC3E}">
        <p14:creationId xmlns:p14="http://schemas.microsoft.com/office/powerpoint/2010/main" val="38060154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32155A-B2BA-4E07-8180-FAEABB4FFD10}" type="datetimeFigureOut">
              <a:rPr lang="en-IN" smtClean="0"/>
              <a:t>17-04-2026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DDFA4D-1D01-4EDA-8520-C50190E4E356}" type="slidenum">
              <a:rPr lang="en-IN" smtClean="0"/>
              <a:t>‹#›</a:t>
            </a:fld>
            <a:endParaRPr lang="en-IN"/>
          </a:p>
        </p:txBody>
      </p:sp>
    </p:spTree>
    <p:extLst>
      <p:ext uri="{BB962C8B-B14F-4D97-AF65-F5344CB8AC3E}">
        <p14:creationId xmlns:p14="http://schemas.microsoft.com/office/powerpoint/2010/main" val="29249602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032155A-B2BA-4E07-8180-FAEABB4FFD10}" type="datetimeFigureOut">
              <a:rPr lang="en-IN" smtClean="0"/>
              <a:t>17-04-2026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7DDFA4D-1D01-4EDA-8520-C50190E4E356}" type="slidenum">
              <a:rPr lang="en-IN" smtClean="0"/>
              <a:t>‹#›</a:t>
            </a:fld>
            <a:endParaRPr lang="en-IN"/>
          </a:p>
        </p:txBody>
      </p:sp>
    </p:spTree>
    <p:extLst>
      <p:ext uri="{BB962C8B-B14F-4D97-AF65-F5344CB8AC3E}">
        <p14:creationId xmlns:p14="http://schemas.microsoft.com/office/powerpoint/2010/main" val="18579573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032155A-B2BA-4E07-8180-FAEABB4FFD10}" type="datetimeFigureOut">
              <a:rPr lang="en-IN" smtClean="0"/>
              <a:t>17-04-2026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7DDFA4D-1D01-4EDA-8520-C50190E4E356}" type="slidenum">
              <a:rPr lang="en-IN" smtClean="0"/>
              <a:t>‹#›</a:t>
            </a:fld>
            <a:endParaRPr lang="en-IN"/>
          </a:p>
        </p:txBody>
      </p:sp>
    </p:spTree>
    <p:extLst>
      <p:ext uri="{BB962C8B-B14F-4D97-AF65-F5344CB8AC3E}">
        <p14:creationId xmlns:p14="http://schemas.microsoft.com/office/powerpoint/2010/main" val="4138347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032155A-B2BA-4E07-8180-FAEABB4FFD10}" type="datetimeFigureOut">
              <a:rPr lang="en-IN" smtClean="0"/>
              <a:t>17-04-2026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7DDFA4D-1D01-4EDA-8520-C50190E4E356}" type="slidenum">
              <a:rPr lang="en-IN" smtClean="0"/>
              <a:t>‹#›</a:t>
            </a:fld>
            <a:endParaRPr lang="en-IN"/>
          </a:p>
        </p:txBody>
      </p:sp>
    </p:spTree>
    <p:extLst>
      <p:ext uri="{BB962C8B-B14F-4D97-AF65-F5344CB8AC3E}">
        <p14:creationId xmlns:p14="http://schemas.microsoft.com/office/powerpoint/2010/main" val="3977371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32155A-B2BA-4E07-8180-FAEABB4FFD10}" type="datetimeFigureOut">
              <a:rPr lang="en-IN" smtClean="0"/>
              <a:t>17-04-2026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7DDFA4D-1D01-4EDA-8520-C50190E4E356}" type="slidenum">
              <a:rPr lang="en-IN" smtClean="0"/>
              <a:t>‹#›</a:t>
            </a:fld>
            <a:endParaRPr lang="en-IN"/>
          </a:p>
        </p:txBody>
      </p:sp>
    </p:spTree>
    <p:extLst>
      <p:ext uri="{BB962C8B-B14F-4D97-AF65-F5344CB8AC3E}">
        <p14:creationId xmlns:p14="http://schemas.microsoft.com/office/powerpoint/2010/main" val="2653982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32155A-B2BA-4E07-8180-FAEABB4FFD10}" type="datetimeFigureOut">
              <a:rPr lang="en-IN" smtClean="0"/>
              <a:t>17-04-2026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7DDFA4D-1D01-4EDA-8520-C50190E4E356}" type="slidenum">
              <a:rPr lang="en-IN" smtClean="0"/>
              <a:t>‹#›</a:t>
            </a:fld>
            <a:endParaRPr lang="en-IN"/>
          </a:p>
        </p:txBody>
      </p:sp>
    </p:spTree>
    <p:extLst>
      <p:ext uri="{BB962C8B-B14F-4D97-AF65-F5344CB8AC3E}">
        <p14:creationId xmlns:p14="http://schemas.microsoft.com/office/powerpoint/2010/main" val="18342669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32155A-B2BA-4E07-8180-FAEABB4FFD10}" type="datetimeFigureOut">
              <a:rPr lang="en-IN" smtClean="0"/>
              <a:t>17-04-2026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7DDFA4D-1D01-4EDA-8520-C50190E4E356}" type="slidenum">
              <a:rPr lang="en-IN" smtClean="0"/>
              <a:t>‹#›</a:t>
            </a:fld>
            <a:endParaRPr lang="en-IN"/>
          </a:p>
        </p:txBody>
      </p:sp>
    </p:spTree>
    <p:extLst>
      <p:ext uri="{BB962C8B-B14F-4D97-AF65-F5344CB8AC3E}">
        <p14:creationId xmlns:p14="http://schemas.microsoft.com/office/powerpoint/2010/main" val="42009837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32155A-B2BA-4E07-8180-FAEABB4FFD10}" type="datetimeFigureOut">
              <a:rPr lang="en-IN" smtClean="0"/>
              <a:t>17-04-2026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7DDFA4D-1D01-4EDA-8520-C50190E4E356}" type="slidenum">
              <a:rPr lang="en-IN" smtClean="0"/>
              <a:t>‹#›</a:t>
            </a:fld>
            <a:endParaRPr lang="en-IN"/>
          </a:p>
        </p:txBody>
      </p:sp>
    </p:spTree>
    <p:extLst>
      <p:ext uri="{BB962C8B-B14F-4D97-AF65-F5344CB8AC3E}">
        <p14:creationId xmlns:p14="http://schemas.microsoft.com/office/powerpoint/2010/main" val="11657259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32155A-B2BA-4E07-8180-FAEABB4FFD10}" type="datetimeFigureOut">
              <a:rPr lang="en-IN" smtClean="0"/>
              <a:t>17-04-2026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DDFA4D-1D01-4EDA-8520-C50190E4E356}" type="slidenum">
              <a:rPr lang="en-IN" smtClean="0"/>
              <a:t>‹#›</a:t>
            </a:fld>
            <a:endParaRPr lang="en-IN"/>
          </a:p>
        </p:txBody>
      </p:sp>
    </p:spTree>
    <p:extLst>
      <p:ext uri="{BB962C8B-B14F-4D97-AF65-F5344CB8AC3E}">
        <p14:creationId xmlns:p14="http://schemas.microsoft.com/office/powerpoint/2010/main" val="2011127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32155A-B2BA-4E07-8180-FAEABB4FFD10}" type="datetimeFigureOut">
              <a:rPr lang="en-IN" smtClean="0"/>
              <a:t>17-04-2026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DDFA4D-1D01-4EDA-8520-C50190E4E356}" type="slidenum">
              <a:rPr lang="en-IN" smtClean="0"/>
              <a:t>‹#›</a:t>
            </a:fld>
            <a:endParaRPr lang="en-IN"/>
          </a:p>
        </p:txBody>
      </p:sp>
    </p:spTree>
    <p:extLst>
      <p:ext uri="{BB962C8B-B14F-4D97-AF65-F5344CB8AC3E}">
        <p14:creationId xmlns:p14="http://schemas.microsoft.com/office/powerpoint/2010/main" val="38358692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32155A-B2BA-4E07-8180-FAEABB4FFD10}" type="datetimeFigureOut">
              <a:rPr lang="en-IN" smtClean="0"/>
              <a:t>17-04-2026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DDFA4D-1D01-4EDA-8520-C50190E4E356}" type="slidenum">
              <a:rPr lang="en-IN" smtClean="0"/>
              <a:t>‹#›</a:t>
            </a:fld>
            <a:endParaRPr lang="en-IN"/>
          </a:p>
        </p:txBody>
      </p:sp>
    </p:spTree>
    <p:extLst>
      <p:ext uri="{BB962C8B-B14F-4D97-AF65-F5344CB8AC3E}">
        <p14:creationId xmlns:p14="http://schemas.microsoft.com/office/powerpoint/2010/main" val="10312616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32155A-B2BA-4E07-8180-FAEABB4FFD10}" type="datetimeFigureOut">
              <a:rPr lang="en-IN" smtClean="0"/>
              <a:t>17-04-2026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DDFA4D-1D01-4EDA-8520-C50190E4E356}" type="slidenum">
              <a:rPr lang="en-IN" smtClean="0"/>
              <a:t>‹#›</a:t>
            </a:fld>
            <a:endParaRPr lang="en-IN"/>
          </a:p>
        </p:txBody>
      </p:sp>
    </p:spTree>
    <p:extLst>
      <p:ext uri="{BB962C8B-B14F-4D97-AF65-F5344CB8AC3E}">
        <p14:creationId xmlns:p14="http://schemas.microsoft.com/office/powerpoint/2010/main" val="31287505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32155A-B2BA-4E07-8180-FAEABB4FFD10}" type="datetimeFigureOut">
              <a:rPr lang="en-IN" smtClean="0"/>
              <a:t>17-04-2026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DDFA4D-1D01-4EDA-8520-C50190E4E356}" type="slidenum">
              <a:rPr lang="en-IN" smtClean="0"/>
              <a:t>‹#›</a:t>
            </a:fld>
            <a:endParaRPr lang="en-IN"/>
          </a:p>
        </p:txBody>
      </p:sp>
    </p:spTree>
    <p:extLst>
      <p:ext uri="{BB962C8B-B14F-4D97-AF65-F5344CB8AC3E}">
        <p14:creationId xmlns:p14="http://schemas.microsoft.com/office/powerpoint/2010/main" val="12135131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32155A-B2BA-4E07-8180-FAEABB4FFD10}" type="datetimeFigureOut">
              <a:rPr lang="en-IN" smtClean="0"/>
              <a:t>17-04-2026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DDFA4D-1D01-4EDA-8520-C50190E4E356}" type="slidenum">
              <a:rPr lang="en-IN" smtClean="0"/>
              <a:t>‹#›</a:t>
            </a:fld>
            <a:endParaRPr lang="en-IN"/>
          </a:p>
        </p:txBody>
      </p:sp>
    </p:spTree>
    <p:extLst>
      <p:ext uri="{BB962C8B-B14F-4D97-AF65-F5344CB8AC3E}">
        <p14:creationId xmlns:p14="http://schemas.microsoft.com/office/powerpoint/2010/main" val="26027838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32155A-B2BA-4E07-8180-FAEABB4FFD10}" type="datetimeFigureOut">
              <a:rPr lang="en-IN" smtClean="0"/>
              <a:t>17-04-2026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DDFA4D-1D01-4EDA-8520-C50190E4E356}" type="slidenum">
              <a:rPr lang="en-IN" smtClean="0"/>
              <a:t>‹#›</a:t>
            </a:fld>
            <a:endParaRPr lang="en-IN"/>
          </a:p>
        </p:txBody>
      </p:sp>
    </p:spTree>
    <p:extLst>
      <p:ext uri="{BB962C8B-B14F-4D97-AF65-F5344CB8AC3E}">
        <p14:creationId xmlns:p14="http://schemas.microsoft.com/office/powerpoint/2010/main" val="33200988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IN"/>
            </a:p>
          </p:txBody>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IN"/>
            </a:p>
          </p:txBody>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IN"/>
            </a:p>
          </p:txBody>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IN"/>
            </a:p>
          </p:txBody>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IN"/>
            </a:p>
          </p:txBody>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IN"/>
            </a:p>
          </p:txBody>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032155A-B2BA-4E07-8180-FAEABB4FFD10}" type="datetimeFigureOut">
              <a:rPr lang="en-IN" smtClean="0"/>
              <a:t>17-04-2026</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7DDFA4D-1D01-4EDA-8520-C50190E4E356}" type="slidenum">
              <a:rPr lang="en-IN" smtClean="0"/>
              <a:t>‹#›</a:t>
            </a:fld>
            <a:endParaRPr lang="en-IN"/>
          </a:p>
        </p:txBody>
      </p:sp>
    </p:spTree>
    <p:extLst>
      <p:ext uri="{BB962C8B-B14F-4D97-AF65-F5344CB8AC3E}">
        <p14:creationId xmlns:p14="http://schemas.microsoft.com/office/powerpoint/2010/main" val="4127306684"/>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 id="2147483798" r:id="rId12"/>
    <p:sldLayoutId id="2147483799" r:id="rId13"/>
    <p:sldLayoutId id="2147483800" r:id="rId14"/>
    <p:sldLayoutId id="2147483801" r:id="rId15"/>
    <p:sldLayoutId id="2147483802" r:id="rId16"/>
    <p:sldLayoutId id="2147483803"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DFC73-6E0A-7EE7-E6CB-7A62DB25E05E}"/>
              </a:ext>
            </a:extLst>
          </p:cNvPr>
          <p:cNvSpPr>
            <a:spLocks noGrp="1"/>
          </p:cNvSpPr>
          <p:nvPr>
            <p:ph type="ctrTitle"/>
          </p:nvPr>
        </p:nvSpPr>
        <p:spPr/>
        <p:txBody>
          <a:bodyPr/>
          <a:lstStyle/>
          <a:p>
            <a:r>
              <a:rPr lang="en-US" sz="3600" b="1" dirty="0">
                <a:latin typeface="Calibri" panose="020F0502020204030204" pitchFamily="34" charset="0"/>
                <a:ea typeface="Calibri" panose="020F0502020204030204" pitchFamily="34" charset="0"/>
                <a:cs typeface="Calibri" panose="020F0502020204030204" pitchFamily="34" charset="0"/>
              </a:rPr>
              <a:t>TURBINE HEALTH MONITORING AND FAILURE FORECASTING</a:t>
            </a:r>
            <a:endParaRPr lang="en-IN" sz="36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281A3CA5-6E7B-C2BF-6AD9-F5D4F8D8C936}"/>
              </a:ext>
            </a:extLst>
          </p:cNvPr>
          <p:cNvSpPr>
            <a:spLocks noGrp="1"/>
          </p:cNvSpPr>
          <p:nvPr>
            <p:ph type="subTitle" idx="1"/>
          </p:nvPr>
        </p:nvSpPr>
        <p:spPr>
          <a:xfrm>
            <a:off x="7437380" y="5072464"/>
            <a:ext cx="4065643" cy="1348001"/>
          </a:xfrm>
        </p:spPr>
        <p:txBody>
          <a:bodyPr>
            <a:norm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PRESENTED BY </a:t>
            </a:r>
          </a:p>
          <a:p>
            <a:r>
              <a:rPr lang="en-US" sz="2400" b="1" dirty="0">
                <a:latin typeface="Calibri" panose="020F0502020204030204" pitchFamily="34" charset="0"/>
                <a:ea typeface="Calibri" panose="020F0502020204030204" pitchFamily="34" charset="0"/>
                <a:cs typeface="Calibri" panose="020F0502020204030204" pitchFamily="34" charset="0"/>
              </a:rPr>
              <a:t>T. ABHINAV</a:t>
            </a:r>
            <a:endParaRPr lang="en-IN" sz="24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566650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5334C7-2EA9-F320-0E70-F947D8F85EFC}"/>
              </a:ext>
            </a:extLst>
          </p:cNvPr>
          <p:cNvSpPr txBox="1"/>
          <p:nvPr/>
        </p:nvSpPr>
        <p:spPr>
          <a:xfrm>
            <a:off x="2113936" y="222656"/>
            <a:ext cx="8465574" cy="707886"/>
          </a:xfrm>
          <a:prstGeom prst="rect">
            <a:avLst/>
          </a:prstGeom>
          <a:noFill/>
        </p:spPr>
        <p:txBody>
          <a:bodyPr wrap="square" rtlCol="0">
            <a:spAutoFit/>
          </a:body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OVERVIEW</a:t>
            </a:r>
            <a:endParaRPr lang="en-IN" sz="44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C5271129-8C49-BBEF-9EF4-F028AFBA18FE}"/>
              </a:ext>
            </a:extLst>
          </p:cNvPr>
          <p:cNvSpPr txBox="1"/>
          <p:nvPr/>
        </p:nvSpPr>
        <p:spPr>
          <a:xfrm>
            <a:off x="1474839" y="1177509"/>
            <a:ext cx="9743768" cy="4661276"/>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v"/>
            </a:pPr>
            <a:r>
              <a:rPr lang="en-US" sz="2000" dirty="0">
                <a:latin typeface="Calibri" panose="020F0502020204030204" pitchFamily="34" charset="0"/>
                <a:ea typeface="Calibri" panose="020F0502020204030204" pitchFamily="34" charset="0"/>
                <a:cs typeface="Calibri" panose="020F0502020204030204" pitchFamily="34" charset="0"/>
              </a:rPr>
              <a:t>Wind turbines are an important source of renewable energy, but continuous operation can lead to mechanical faults and unexpected failures. These failures may cause downtime, increased maintenance costs, and reduced power generation.</a:t>
            </a:r>
          </a:p>
          <a:p>
            <a:pPr marL="342900" indent="-342900" algn="just">
              <a:lnSpc>
                <a:spcPct val="150000"/>
              </a:lnSpc>
              <a:buFont typeface="Wingdings" panose="05000000000000000000" pitchFamily="2" charset="2"/>
              <a:buChar char="v"/>
            </a:pPr>
            <a:r>
              <a:rPr lang="en-US" sz="2000" dirty="0">
                <a:latin typeface="Calibri" panose="020F0502020204030204" pitchFamily="34" charset="0"/>
                <a:ea typeface="Calibri" panose="020F0502020204030204" pitchFamily="34" charset="0"/>
                <a:cs typeface="Calibri" panose="020F0502020204030204" pitchFamily="34" charset="0"/>
              </a:rPr>
              <a:t>This project aims to develop a machine learning-based system that monitors the health of wind turbines and predicts possible failures in advance. The model analyses key parameters such as Wind Speed, Rotor Speed, Blade Angle, Gearbox Temperature, Generator Temperature, and Vibration to identify abnormal conditions.</a:t>
            </a:r>
          </a:p>
          <a:p>
            <a:pPr marL="342900" indent="-342900" algn="just">
              <a:lnSpc>
                <a:spcPct val="150000"/>
              </a:lnSpc>
              <a:buFont typeface="Wingdings" panose="05000000000000000000" pitchFamily="2" charset="2"/>
              <a:buChar char="v"/>
            </a:pPr>
            <a:r>
              <a:rPr lang="en-US" sz="2000" dirty="0">
                <a:latin typeface="Calibri" panose="020F0502020204030204" pitchFamily="34" charset="0"/>
                <a:ea typeface="Calibri" panose="020F0502020204030204" pitchFamily="34" charset="0"/>
                <a:cs typeface="Calibri" panose="020F0502020204030204" pitchFamily="34" charset="0"/>
              </a:rPr>
              <a:t>By predicting faults like gearbox, generator, or blade failures before they occur, the system helps in timely maintenance, reduces downtime, and improves the overall efficiency and reliability of wind turbines.</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78475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48D979C-2012-CDBD-8465-53730EEC8831}"/>
              </a:ext>
            </a:extLst>
          </p:cNvPr>
          <p:cNvSpPr txBox="1"/>
          <p:nvPr/>
        </p:nvSpPr>
        <p:spPr>
          <a:xfrm>
            <a:off x="3866534" y="275303"/>
            <a:ext cx="5565058" cy="707886"/>
          </a:xfrm>
          <a:prstGeom prst="rect">
            <a:avLst/>
          </a:prstGeom>
          <a:noFill/>
        </p:spPr>
        <p:txBody>
          <a:bodyPr wrap="square" rtlCol="0">
            <a:spAutoFit/>
          </a:body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OBJECTIVES</a:t>
            </a:r>
            <a:endParaRPr lang="en-IN" sz="40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73AF1CD1-3039-85C1-7F56-023125F8B1A6}"/>
              </a:ext>
            </a:extLst>
          </p:cNvPr>
          <p:cNvSpPr txBox="1"/>
          <p:nvPr/>
        </p:nvSpPr>
        <p:spPr>
          <a:xfrm>
            <a:off x="1922205" y="1429749"/>
            <a:ext cx="9453717" cy="3737946"/>
          </a:xfrm>
          <a:prstGeom prst="rect">
            <a:avLst/>
          </a:prstGeom>
          <a:noFill/>
        </p:spPr>
        <p:txBody>
          <a:bodyPr wrap="square" rtlCol="0">
            <a:spAutoFit/>
          </a:bodyPr>
          <a:lstStyle/>
          <a:p>
            <a:pPr algn="just">
              <a:lnSpc>
                <a:spcPct val="150000"/>
              </a:lnSpc>
            </a:pPr>
            <a:r>
              <a:rPr lang="en-US" sz="2000" dirty="0">
                <a:latin typeface="Calibri" panose="020F0502020204030204" pitchFamily="34" charset="0"/>
                <a:ea typeface="Calibri" panose="020F0502020204030204" pitchFamily="34" charset="0"/>
                <a:cs typeface="Calibri" panose="020F0502020204030204" pitchFamily="34" charset="0"/>
              </a:rPr>
              <a:t>The goal of this project is to develop a predictive model for monitoring the health of wind turbines and forecasting potential failures. By analyzing key operational parameters such as Windspeed, Rotor Speed, Blade Angle, Gearbox Temperature, GeneratorTemperature, and Vibration, we aim to: </a:t>
            </a:r>
          </a:p>
          <a:p>
            <a:pPr marL="342900" indent="-342900" algn="just">
              <a:lnSpc>
                <a:spcPct val="150000"/>
              </a:lnSpc>
              <a:buFont typeface="Wingdings" panose="05000000000000000000" pitchFamily="2" charset="2"/>
              <a:buChar char="v"/>
            </a:pPr>
            <a:r>
              <a:rPr lang="en-US" sz="2000" dirty="0">
                <a:latin typeface="Calibri" panose="020F0502020204030204" pitchFamily="34" charset="0"/>
                <a:ea typeface="Calibri" panose="020F0502020204030204" pitchFamily="34" charset="0"/>
                <a:cs typeface="Calibri" panose="020F0502020204030204" pitchFamily="34" charset="0"/>
              </a:rPr>
              <a:t> Identify patterns or conditions that lead to failures. </a:t>
            </a:r>
          </a:p>
          <a:p>
            <a:pPr marL="342900" indent="-342900" algn="just">
              <a:lnSpc>
                <a:spcPct val="150000"/>
              </a:lnSpc>
              <a:buFont typeface="Wingdings" panose="05000000000000000000" pitchFamily="2" charset="2"/>
              <a:buChar char="v"/>
            </a:pPr>
            <a:r>
              <a:rPr lang="en-US" sz="2000" dirty="0">
                <a:latin typeface="Calibri" panose="020F0502020204030204" pitchFamily="34" charset="0"/>
                <a:ea typeface="Calibri" panose="020F0502020204030204" pitchFamily="34" charset="0"/>
                <a:cs typeface="Calibri" panose="020F0502020204030204" pitchFamily="34" charset="0"/>
              </a:rPr>
              <a:t> Predict specific types of failures (e.g., gearbox, generator, blade)    before they occur. </a:t>
            </a:r>
          </a:p>
          <a:p>
            <a:pPr marL="342900" indent="-342900" algn="just">
              <a:lnSpc>
                <a:spcPct val="150000"/>
              </a:lnSpc>
              <a:buFont typeface="Wingdings" panose="05000000000000000000" pitchFamily="2" charset="2"/>
              <a:buChar char="v"/>
            </a:pPr>
            <a:r>
              <a:rPr lang="en-US" sz="2000" dirty="0">
                <a:latin typeface="Calibri" panose="020F0502020204030204" pitchFamily="34" charset="0"/>
                <a:ea typeface="Calibri" panose="020F0502020204030204" pitchFamily="34" charset="0"/>
                <a:cs typeface="Calibri" panose="020F0502020204030204" pitchFamily="34" charset="0"/>
              </a:rPr>
              <a:t> Improve turbine uptime and optimize maintenance schedules, reducing downtime and operational costs.</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104476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23520A-65AF-31EC-1F31-094F4C0F5BD2}"/>
              </a:ext>
            </a:extLst>
          </p:cNvPr>
          <p:cNvSpPr txBox="1"/>
          <p:nvPr/>
        </p:nvSpPr>
        <p:spPr>
          <a:xfrm>
            <a:off x="4277032" y="196683"/>
            <a:ext cx="5053780" cy="707886"/>
          </a:xfrm>
          <a:prstGeom prst="rect">
            <a:avLst/>
          </a:prstGeom>
          <a:noFill/>
        </p:spPr>
        <p:txBody>
          <a:bodyPr wrap="square" rtlCol="0">
            <a:spAutoFit/>
          </a:body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METHODOLOGY</a:t>
            </a:r>
            <a:endParaRPr lang="en-IN" sz="28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BAC0836C-9530-6E14-ECBA-CB0C80E74FCE}"/>
              </a:ext>
            </a:extLst>
          </p:cNvPr>
          <p:cNvSpPr txBox="1"/>
          <p:nvPr/>
        </p:nvSpPr>
        <p:spPr>
          <a:xfrm>
            <a:off x="2261418" y="904569"/>
            <a:ext cx="9085008" cy="7017306"/>
          </a:xfrm>
          <a:prstGeom prst="rect">
            <a:avLst/>
          </a:prstGeom>
          <a:noFill/>
        </p:spPr>
        <p:txBody>
          <a:bodyPr wrap="square" rtlCol="0">
            <a:spAutoFit/>
          </a:bodyPr>
          <a:lstStyle/>
          <a:p>
            <a:pPr marL="342900" indent="-342900" algn="just">
              <a:lnSpc>
                <a:spcPct val="150000"/>
              </a:lnSpc>
              <a:buAutoNum type="arabicPeriod"/>
            </a:pPr>
            <a:r>
              <a:rPr lang="en-US" sz="2400" b="1" dirty="0">
                <a:latin typeface="Calibri" panose="020F0502020204030204" pitchFamily="34" charset="0"/>
                <a:ea typeface="Calibri" panose="020F0502020204030204" pitchFamily="34" charset="0"/>
                <a:cs typeface="Calibri" panose="020F0502020204030204" pitchFamily="34" charset="0"/>
              </a:rPr>
              <a:t>Data Exploring and Preprocessing:</a:t>
            </a:r>
          </a:p>
          <a:p>
            <a:pPr marL="285750" indent="-28575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Loaded and analyzed the dataset, handled missing values, and removed duplicates.</a:t>
            </a:r>
          </a:p>
          <a:p>
            <a:pPr marL="285750" indent="-28575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Cleaned data, encoded categorical variables, and prepared it for model training.</a:t>
            </a:r>
          </a:p>
          <a:p>
            <a:pPr marL="285750" indent="-28575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Created new features like Temperature Difference, Power Efficiency, Vibration Risk, and Maintenance Risk using NumPy and Pandas. </a:t>
            </a:r>
          </a:p>
          <a:p>
            <a:pPr algn="just">
              <a:lnSpc>
                <a:spcPct val="150000"/>
              </a:lnSpc>
            </a:pPr>
            <a:r>
              <a:rPr lang="en-US" sz="2400" b="1" dirty="0">
                <a:latin typeface="Calibri" panose="020F0502020204030204" pitchFamily="34" charset="0"/>
                <a:ea typeface="Calibri" panose="020F0502020204030204" pitchFamily="34" charset="0"/>
                <a:cs typeface="Calibri" panose="020F0502020204030204" pitchFamily="34" charset="0"/>
              </a:rPr>
              <a:t>2. Exploratory Data Analysis (EDA):</a:t>
            </a:r>
          </a:p>
          <a:p>
            <a:pPr marL="342900" indent="-34290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Performed EDA to understand relationships between turbine parameters and failure conditions.</a:t>
            </a:r>
          </a:p>
          <a:p>
            <a:pPr marL="342900" indent="-34290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Used statistical summaries and visualizations like histograms, box plots, and correlation analysis to identify patterns and outliers.</a:t>
            </a:r>
          </a:p>
          <a:p>
            <a:pPr marL="342900" indent="-34290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Created visualizations such as correlation heatmap, fault type distribution, target variable distribution, vibration vs failure, wind speed vs power output.</a:t>
            </a:r>
          </a:p>
          <a:p>
            <a:pPr marL="342900" indent="-342900" algn="just">
              <a:lnSpc>
                <a:spcPct val="150000"/>
              </a:lnSpc>
              <a:buFont typeface="Wingdings" panose="05000000000000000000" pitchFamily="2" charset="2"/>
              <a:buChar char="Ø"/>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342900" indent="-342900" algn="just">
              <a:lnSpc>
                <a:spcPct val="150000"/>
              </a:lnSpc>
              <a:buFont typeface="Wingdings" panose="05000000000000000000" pitchFamily="2" charset="2"/>
              <a:buChar char="Ø"/>
            </a:pPr>
            <a:endParaRPr lang="en-US" sz="2000" b="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endParaRPr lang="en-IN" dirty="0"/>
          </a:p>
        </p:txBody>
      </p:sp>
    </p:spTree>
    <p:extLst>
      <p:ext uri="{BB962C8B-B14F-4D97-AF65-F5344CB8AC3E}">
        <p14:creationId xmlns:p14="http://schemas.microsoft.com/office/powerpoint/2010/main" val="12450659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3A9000-1C33-D278-4C43-A9D834C9A370}"/>
              </a:ext>
            </a:extLst>
          </p:cNvPr>
          <p:cNvSpPr txBox="1"/>
          <p:nvPr/>
        </p:nvSpPr>
        <p:spPr>
          <a:xfrm>
            <a:off x="1976284" y="0"/>
            <a:ext cx="9802762" cy="7154266"/>
          </a:xfrm>
          <a:prstGeom prst="rect">
            <a:avLst/>
          </a:prstGeom>
          <a:noFill/>
        </p:spPr>
        <p:txBody>
          <a:bodyPr wrap="square" rtlCol="0">
            <a:spAutoFit/>
          </a:bodyPr>
          <a:lstStyle/>
          <a:p>
            <a:pPr algn="just">
              <a:lnSpc>
                <a:spcPct val="150000"/>
              </a:lnSpc>
            </a:pPr>
            <a:r>
              <a:rPr lang="en-US" sz="2400" b="1" dirty="0">
                <a:latin typeface="Calibri" panose="020F0502020204030204" pitchFamily="34" charset="0"/>
                <a:ea typeface="Calibri" panose="020F0502020204030204" pitchFamily="34" charset="0"/>
                <a:cs typeface="Calibri" panose="020F0502020204030204" pitchFamily="34" charset="0"/>
              </a:rPr>
              <a:t>3. Model Selection and Training:</a:t>
            </a:r>
          </a:p>
          <a:p>
            <a:pPr marL="285750" indent="-28575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Trained multiple machine learning models on processed data by splitting it into training and testing sets.</a:t>
            </a:r>
          </a:p>
          <a:p>
            <a:pPr marL="285750" indent="-28575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Tested algorithms like Logistic Regression, Decision Tree, Random Forest, and Gradient Boosting/XGBoost for failure prediction.</a:t>
            </a:r>
          </a:p>
          <a:p>
            <a:pPr marL="285750" indent="-28575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Compared model performance to select the best-performing model for accurate predictions.</a:t>
            </a:r>
          </a:p>
          <a:p>
            <a:pPr algn="just">
              <a:lnSpc>
                <a:spcPct val="150000"/>
              </a:lnSpc>
            </a:pPr>
            <a:r>
              <a:rPr lang="en-US" sz="2400" b="1" dirty="0">
                <a:latin typeface="Calibri" panose="020F0502020204030204" pitchFamily="34" charset="0"/>
                <a:ea typeface="Calibri" panose="020F0502020204030204" pitchFamily="34" charset="0"/>
                <a:cs typeface="Calibri" panose="020F0502020204030204" pitchFamily="34" charset="0"/>
              </a:rPr>
              <a:t>4. Failure Type Prediction:</a:t>
            </a:r>
          </a:p>
          <a:p>
            <a:pPr marL="342900" indent="-34290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Used the best-performing model to predict not only failure occurrence but also the specific type of failure.</a:t>
            </a:r>
          </a:p>
          <a:p>
            <a:pPr marL="342900" indent="-34290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Predictions were based on key parameters like wind speed, rotor speed, blade angle, temperatures, and vibration.</a:t>
            </a:r>
          </a:p>
          <a:p>
            <a:pPr marL="342900" indent="-342900" algn="just">
              <a:lnSpc>
                <a:spcPct val="150000"/>
              </a:lnSpc>
              <a:buFont typeface="Wingdings" panose="05000000000000000000" pitchFamily="2" charset="2"/>
              <a:buChar char="Ø"/>
            </a:pPr>
            <a:r>
              <a:rPr lang="en-US" sz="2000" dirty="0"/>
              <a:t>Classified failures into categories such as gearbox failure, generator failure, blade failure, and normal condition.</a:t>
            </a:r>
            <a:endParaRPr lang="en-US" sz="2000" b="1" dirty="0">
              <a:latin typeface="Calibri" panose="020F0502020204030204" pitchFamily="34" charset="0"/>
              <a:ea typeface="Calibri" panose="020F0502020204030204" pitchFamily="34" charset="0"/>
              <a:cs typeface="Calibri" panose="020F0502020204030204" pitchFamily="34" charset="0"/>
            </a:endParaRPr>
          </a:p>
          <a:p>
            <a:pPr algn="just">
              <a:lnSpc>
                <a:spcPct val="150000"/>
              </a:lnSpc>
            </a:pP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81132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C802F83-D32D-E609-43B1-DBE8364505B0}"/>
              </a:ext>
            </a:extLst>
          </p:cNvPr>
          <p:cNvSpPr txBox="1"/>
          <p:nvPr/>
        </p:nvSpPr>
        <p:spPr>
          <a:xfrm>
            <a:off x="2113935" y="0"/>
            <a:ext cx="9576620" cy="6971139"/>
          </a:xfrm>
          <a:prstGeom prst="rect">
            <a:avLst/>
          </a:prstGeom>
          <a:noFill/>
        </p:spPr>
        <p:txBody>
          <a:bodyPr wrap="square" rtlCol="0">
            <a:spAutoFit/>
          </a:bodyPr>
          <a:lstStyle/>
          <a:p>
            <a:pPr algn="just">
              <a:lnSpc>
                <a:spcPct val="150000"/>
              </a:lnSpc>
            </a:pPr>
            <a:r>
              <a:rPr lang="en-US" sz="2400" b="1" dirty="0">
                <a:latin typeface="Calibri" panose="020F0502020204030204" pitchFamily="34" charset="0"/>
                <a:ea typeface="Calibri" panose="020F0502020204030204" pitchFamily="34" charset="0"/>
                <a:cs typeface="Calibri" panose="020F0502020204030204" pitchFamily="34" charset="0"/>
              </a:rPr>
              <a:t>5. Hyper Parameter Tuning:</a:t>
            </a:r>
          </a:p>
          <a:p>
            <a:pPr marL="285750" indent="-28575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Performed hyperparameter tuning to improve model accuracy and overall performance.</a:t>
            </a:r>
          </a:p>
          <a:p>
            <a:pPr marL="285750" indent="-28575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Used techniques like GridSearchCV and RandomizedSearchCV to find the best parameter combinations.</a:t>
            </a:r>
          </a:p>
          <a:p>
            <a:pPr marL="285750" indent="-28575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Tuned parameters such as number of trees, tree depth, split conditions, and criteria to avoid overfitting and improve generalization. </a:t>
            </a:r>
          </a:p>
          <a:p>
            <a:pPr marL="285750" indent="-285750" algn="just">
              <a:lnSpc>
                <a:spcPct val="150000"/>
              </a:lnSpc>
              <a:buFont typeface="Wingdings" panose="05000000000000000000" pitchFamily="2" charset="2"/>
              <a:buChar char="Ø"/>
            </a:pPr>
            <a:endParaRPr lang="en-IN" dirty="0"/>
          </a:p>
          <a:p>
            <a:pPr algn="just">
              <a:lnSpc>
                <a:spcPct val="150000"/>
              </a:lnSpc>
            </a:pPr>
            <a:r>
              <a:rPr lang="en-IN" sz="2400" b="1" dirty="0">
                <a:latin typeface="Calibri" panose="020F0502020204030204" pitchFamily="34" charset="0"/>
                <a:ea typeface="Calibri" panose="020F0502020204030204" pitchFamily="34" charset="0"/>
                <a:cs typeface="Calibri" panose="020F0502020204030204" pitchFamily="34" charset="0"/>
              </a:rPr>
              <a:t>6. Post Model Analysis:</a:t>
            </a:r>
          </a:p>
          <a:p>
            <a:pPr marL="285750" indent="-28575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Evaluated model performance using metrics like accuracy, precision, recall, and F1-score.</a:t>
            </a:r>
          </a:p>
          <a:p>
            <a:pPr marL="285750" indent="-28575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Used confusion matrix to analyze correct predictions, false positives, and false negatives.</a:t>
            </a:r>
          </a:p>
          <a:p>
            <a:pPr marL="285750" indent="-28575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Analyzed feature importance using SHAP to understand the impact of parameters on predictions. </a:t>
            </a:r>
          </a:p>
          <a:p>
            <a:pPr marL="285750" indent="-285750">
              <a:buFont typeface="Wingdings" panose="05000000000000000000" pitchFamily="2" charset="2"/>
              <a:buChar char="Ø"/>
            </a:pPr>
            <a:endParaRPr lang="en-IN" dirty="0"/>
          </a:p>
        </p:txBody>
      </p:sp>
    </p:spTree>
    <p:extLst>
      <p:ext uri="{BB962C8B-B14F-4D97-AF65-F5344CB8AC3E}">
        <p14:creationId xmlns:p14="http://schemas.microsoft.com/office/powerpoint/2010/main" val="17106733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3438EE1-EFAE-4462-D0EB-29D63DD1AD26}"/>
              </a:ext>
            </a:extLst>
          </p:cNvPr>
          <p:cNvPicPr>
            <a:picLocks noChangeAspect="1"/>
          </p:cNvPicPr>
          <p:nvPr/>
        </p:nvPicPr>
        <p:blipFill>
          <a:blip r:embed="rId2"/>
          <a:stretch>
            <a:fillRect/>
          </a:stretch>
        </p:blipFill>
        <p:spPr>
          <a:xfrm>
            <a:off x="2400141" y="822678"/>
            <a:ext cx="9689376" cy="5843593"/>
          </a:xfrm>
          <a:prstGeom prst="rect">
            <a:avLst/>
          </a:prstGeom>
        </p:spPr>
      </p:pic>
      <p:sp>
        <p:nvSpPr>
          <p:cNvPr id="4" name="TextBox 3">
            <a:extLst>
              <a:ext uri="{FF2B5EF4-FFF2-40B4-BE49-F238E27FC236}">
                <a16:creationId xmlns:a16="http://schemas.microsoft.com/office/drawing/2014/main" id="{99D7A887-72A8-5392-83B3-0240C6664D3B}"/>
              </a:ext>
            </a:extLst>
          </p:cNvPr>
          <p:cNvSpPr txBox="1"/>
          <p:nvPr/>
        </p:nvSpPr>
        <p:spPr>
          <a:xfrm>
            <a:off x="5381616" y="114792"/>
            <a:ext cx="3726426" cy="707886"/>
          </a:xfrm>
          <a:prstGeom prst="rect">
            <a:avLst/>
          </a:prstGeom>
          <a:noFill/>
        </p:spPr>
        <p:txBody>
          <a:bodyPr wrap="square" rtlCol="0">
            <a:spAutoFit/>
          </a:bodyPr>
          <a:lstStyle/>
          <a:p>
            <a:r>
              <a:rPr lang="en-US" sz="4000" b="1" dirty="0">
                <a:latin typeface="Calibri" panose="020F0502020204030204" pitchFamily="34" charset="0"/>
                <a:ea typeface="Calibri" panose="020F0502020204030204" pitchFamily="34" charset="0"/>
                <a:cs typeface="Calibri" panose="020F0502020204030204" pitchFamily="34" charset="0"/>
              </a:rPr>
              <a:t>VISUALIZATIONS</a:t>
            </a:r>
            <a:endParaRPr lang="en-IN" sz="40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595639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E40CB7C-020E-4006-3486-F766637476CB}"/>
              </a:ext>
            </a:extLst>
          </p:cNvPr>
          <p:cNvPicPr>
            <a:picLocks noChangeAspect="1"/>
          </p:cNvPicPr>
          <p:nvPr/>
        </p:nvPicPr>
        <p:blipFill>
          <a:blip r:embed="rId2"/>
          <a:stretch>
            <a:fillRect/>
          </a:stretch>
        </p:blipFill>
        <p:spPr>
          <a:xfrm>
            <a:off x="2734593" y="99548"/>
            <a:ext cx="4220164" cy="6658904"/>
          </a:xfrm>
          <a:prstGeom prst="rect">
            <a:avLst/>
          </a:prstGeom>
        </p:spPr>
      </p:pic>
      <p:pic>
        <p:nvPicPr>
          <p:cNvPr id="7" name="Picture 6">
            <a:extLst>
              <a:ext uri="{FF2B5EF4-FFF2-40B4-BE49-F238E27FC236}">
                <a16:creationId xmlns:a16="http://schemas.microsoft.com/office/drawing/2014/main" id="{31FCCBBE-6E65-FE3C-599F-B65FCD7A6214}"/>
              </a:ext>
            </a:extLst>
          </p:cNvPr>
          <p:cNvPicPr>
            <a:picLocks noChangeAspect="1"/>
          </p:cNvPicPr>
          <p:nvPr/>
        </p:nvPicPr>
        <p:blipFill>
          <a:blip r:embed="rId3"/>
          <a:stretch>
            <a:fillRect/>
          </a:stretch>
        </p:blipFill>
        <p:spPr>
          <a:xfrm>
            <a:off x="7347326" y="99547"/>
            <a:ext cx="4408863" cy="6658903"/>
          </a:xfrm>
          <a:prstGeom prst="rect">
            <a:avLst/>
          </a:prstGeom>
        </p:spPr>
      </p:pic>
    </p:spTree>
    <p:extLst>
      <p:ext uri="{BB962C8B-B14F-4D97-AF65-F5344CB8AC3E}">
        <p14:creationId xmlns:p14="http://schemas.microsoft.com/office/powerpoint/2010/main" val="3531252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9BF190-D30B-DC15-A115-CF336519CE7F}"/>
              </a:ext>
            </a:extLst>
          </p:cNvPr>
          <p:cNvPicPr>
            <a:picLocks noChangeAspect="1"/>
          </p:cNvPicPr>
          <p:nvPr/>
        </p:nvPicPr>
        <p:blipFill>
          <a:blip r:embed="rId2"/>
          <a:stretch>
            <a:fillRect/>
          </a:stretch>
        </p:blipFill>
        <p:spPr>
          <a:xfrm>
            <a:off x="7097501" y="1585655"/>
            <a:ext cx="4505954" cy="3686689"/>
          </a:xfrm>
          <a:prstGeom prst="rect">
            <a:avLst/>
          </a:prstGeom>
        </p:spPr>
      </p:pic>
      <p:pic>
        <p:nvPicPr>
          <p:cNvPr id="4" name="Picture 3">
            <a:extLst>
              <a:ext uri="{FF2B5EF4-FFF2-40B4-BE49-F238E27FC236}">
                <a16:creationId xmlns:a16="http://schemas.microsoft.com/office/drawing/2014/main" id="{A16D2A78-9C09-66FC-FA13-A437AAAC398F}"/>
              </a:ext>
            </a:extLst>
          </p:cNvPr>
          <p:cNvPicPr>
            <a:picLocks noChangeAspect="1"/>
          </p:cNvPicPr>
          <p:nvPr/>
        </p:nvPicPr>
        <p:blipFill>
          <a:blip r:embed="rId3"/>
          <a:stretch>
            <a:fillRect/>
          </a:stretch>
        </p:blipFill>
        <p:spPr>
          <a:xfrm>
            <a:off x="2709487" y="93407"/>
            <a:ext cx="3183592" cy="6671186"/>
          </a:xfrm>
          <a:prstGeom prst="rect">
            <a:avLst/>
          </a:prstGeom>
        </p:spPr>
      </p:pic>
    </p:spTree>
    <p:extLst>
      <p:ext uri="{BB962C8B-B14F-4D97-AF65-F5344CB8AC3E}">
        <p14:creationId xmlns:p14="http://schemas.microsoft.com/office/powerpoint/2010/main" val="40485586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16C7135-7226-C71B-98BC-14101A02D924}"/>
              </a:ext>
            </a:extLst>
          </p:cNvPr>
          <p:cNvPicPr>
            <a:picLocks noChangeAspect="1"/>
          </p:cNvPicPr>
          <p:nvPr/>
        </p:nvPicPr>
        <p:blipFill>
          <a:blip r:embed="rId2"/>
          <a:stretch>
            <a:fillRect/>
          </a:stretch>
        </p:blipFill>
        <p:spPr>
          <a:xfrm>
            <a:off x="1543664" y="956187"/>
            <a:ext cx="5375975" cy="4945625"/>
          </a:xfrm>
          <a:prstGeom prst="rect">
            <a:avLst/>
          </a:prstGeom>
        </p:spPr>
      </p:pic>
      <p:pic>
        <p:nvPicPr>
          <p:cNvPr id="7" name="Picture 6">
            <a:extLst>
              <a:ext uri="{FF2B5EF4-FFF2-40B4-BE49-F238E27FC236}">
                <a16:creationId xmlns:a16="http://schemas.microsoft.com/office/drawing/2014/main" id="{5E893031-BE50-4CB7-8053-9BB0DF44EAAD}"/>
              </a:ext>
            </a:extLst>
          </p:cNvPr>
          <p:cNvPicPr>
            <a:picLocks noChangeAspect="1"/>
          </p:cNvPicPr>
          <p:nvPr/>
        </p:nvPicPr>
        <p:blipFill>
          <a:blip r:embed="rId3"/>
          <a:stretch>
            <a:fillRect/>
          </a:stretch>
        </p:blipFill>
        <p:spPr>
          <a:xfrm>
            <a:off x="7049087" y="1511839"/>
            <a:ext cx="5083648" cy="3679593"/>
          </a:xfrm>
          <a:prstGeom prst="rect">
            <a:avLst/>
          </a:prstGeom>
        </p:spPr>
      </p:pic>
    </p:spTree>
    <p:extLst>
      <p:ext uri="{BB962C8B-B14F-4D97-AF65-F5344CB8AC3E}">
        <p14:creationId xmlns:p14="http://schemas.microsoft.com/office/powerpoint/2010/main" val="986881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9C47B14-B0D4-9FBB-0D39-89C805122FEA}"/>
              </a:ext>
            </a:extLst>
          </p:cNvPr>
          <p:cNvPicPr>
            <a:picLocks noChangeAspect="1"/>
          </p:cNvPicPr>
          <p:nvPr/>
        </p:nvPicPr>
        <p:blipFill>
          <a:blip r:embed="rId2"/>
          <a:stretch>
            <a:fillRect/>
          </a:stretch>
        </p:blipFill>
        <p:spPr>
          <a:xfrm>
            <a:off x="6932056" y="147179"/>
            <a:ext cx="4305901" cy="6563641"/>
          </a:xfrm>
          <a:prstGeom prst="rect">
            <a:avLst/>
          </a:prstGeom>
        </p:spPr>
      </p:pic>
      <p:pic>
        <p:nvPicPr>
          <p:cNvPr id="3" name="Picture 2">
            <a:extLst>
              <a:ext uri="{FF2B5EF4-FFF2-40B4-BE49-F238E27FC236}">
                <a16:creationId xmlns:a16="http://schemas.microsoft.com/office/drawing/2014/main" id="{C7565B18-F7A6-FAF1-710A-1551B5E58748}"/>
              </a:ext>
            </a:extLst>
          </p:cNvPr>
          <p:cNvPicPr>
            <a:picLocks noChangeAspect="1"/>
          </p:cNvPicPr>
          <p:nvPr/>
        </p:nvPicPr>
        <p:blipFill>
          <a:blip r:embed="rId3"/>
          <a:stretch>
            <a:fillRect/>
          </a:stretch>
        </p:blipFill>
        <p:spPr>
          <a:xfrm>
            <a:off x="1989447" y="809687"/>
            <a:ext cx="4499844" cy="5238624"/>
          </a:xfrm>
          <a:prstGeom prst="rect">
            <a:avLst/>
          </a:prstGeom>
        </p:spPr>
      </p:pic>
    </p:spTree>
    <p:extLst>
      <p:ext uri="{BB962C8B-B14F-4D97-AF65-F5344CB8AC3E}">
        <p14:creationId xmlns:p14="http://schemas.microsoft.com/office/powerpoint/2010/main" val="23311176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DC5830B-053E-45CE-BA74-C8AE8AAF180E}"/>
              </a:ext>
            </a:extLst>
          </p:cNvPr>
          <p:cNvSpPr txBox="1"/>
          <p:nvPr/>
        </p:nvSpPr>
        <p:spPr>
          <a:xfrm>
            <a:off x="3908322" y="0"/>
            <a:ext cx="5309420" cy="707886"/>
          </a:xfrm>
          <a:prstGeom prst="rect">
            <a:avLst/>
          </a:prstGeom>
          <a:noFill/>
        </p:spPr>
        <p:txBody>
          <a:bodyPr wrap="square" rtlCol="0">
            <a:spAutoFit/>
          </a:body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CHALLENGES FACED</a:t>
            </a:r>
            <a:endParaRPr lang="en-IN" sz="40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33442A15-1496-268F-CB29-13B2EA8013DF}"/>
              </a:ext>
            </a:extLst>
          </p:cNvPr>
          <p:cNvSpPr txBox="1"/>
          <p:nvPr/>
        </p:nvSpPr>
        <p:spPr>
          <a:xfrm>
            <a:off x="1976282" y="534731"/>
            <a:ext cx="9910917" cy="6323269"/>
          </a:xfrm>
          <a:prstGeom prst="rect">
            <a:avLst/>
          </a:prstGeom>
          <a:noFill/>
        </p:spPr>
        <p:txBody>
          <a:bodyPr wrap="square" rtlCol="0">
            <a:spAutoFit/>
          </a:bodyPr>
          <a:lstStyle/>
          <a:p>
            <a:pPr marL="342900" indent="-342900" algn="just">
              <a:lnSpc>
                <a:spcPct val="150000"/>
              </a:lnSpc>
              <a:buAutoNum type="arabicPeriod"/>
            </a:pPr>
            <a:r>
              <a:rPr lang="en-US" sz="2400" b="1" dirty="0">
                <a:latin typeface="Calibri" panose="020F0502020204030204" pitchFamily="34" charset="0"/>
                <a:ea typeface="Calibri" panose="020F0502020204030204" pitchFamily="34" charset="0"/>
                <a:cs typeface="Calibri" panose="020F0502020204030204" pitchFamily="34" charset="0"/>
              </a:rPr>
              <a:t>Data Imbalance Issue: </a:t>
            </a:r>
          </a:p>
          <a:p>
            <a:pPr marL="285750" indent="-285750" algn="just">
              <a:lnSpc>
                <a:spcPct val="150000"/>
              </a:lnSpc>
              <a:buFont typeface="Wingdings" panose="05000000000000000000" pitchFamily="2" charset="2"/>
              <a:buChar char="Ø"/>
            </a:pPr>
            <a:r>
              <a:rPr lang="en-US" dirty="0"/>
              <a:t> </a:t>
            </a:r>
            <a:r>
              <a:rPr lang="en-US" sz="2000" dirty="0">
                <a:latin typeface="Calibri" panose="020F0502020204030204" pitchFamily="34" charset="0"/>
                <a:ea typeface="Calibri" panose="020F0502020204030204" pitchFamily="34" charset="0"/>
                <a:cs typeface="Calibri" panose="020F0502020204030204" pitchFamily="34" charset="0"/>
              </a:rPr>
              <a:t>The dataset had a large number of non-failure cases compared to failure cases, which made it difficult for models to correctly predict minority classes. </a:t>
            </a:r>
          </a:p>
          <a:p>
            <a:pPr marL="285750" indent="-28575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The data imbalance issue was addressed by focusing on evaluation metrics like recall and F1-score instead of only accuracy. </a:t>
            </a:r>
          </a:p>
          <a:p>
            <a:pPr algn="just">
              <a:lnSpc>
                <a:spcPct val="150000"/>
              </a:lnSpc>
            </a:pPr>
            <a:r>
              <a:rPr lang="en-US" sz="2400" b="1" dirty="0">
                <a:latin typeface="Calibri" panose="020F0502020204030204" pitchFamily="34" charset="0"/>
                <a:ea typeface="Calibri" panose="020F0502020204030204" pitchFamily="34" charset="0"/>
                <a:cs typeface="Calibri" panose="020F0502020204030204" pitchFamily="34" charset="0"/>
              </a:rPr>
              <a:t>2. Improving Model Performance: </a:t>
            </a:r>
          </a:p>
          <a:p>
            <a:pPr marL="285750" indent="-28575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Multiple models such as Logistic Regression, Decision Tree, Random Forest, and XGBoost were tested and compared. </a:t>
            </a:r>
          </a:p>
          <a:p>
            <a:pPr marL="285750" indent="-28575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Finally, XGBoost was selected as it provided better accuracy and overall performance. </a:t>
            </a:r>
          </a:p>
          <a:p>
            <a:pPr algn="just">
              <a:lnSpc>
                <a:spcPct val="150000"/>
              </a:lnSpc>
            </a:pPr>
            <a:r>
              <a:rPr lang="en-US" sz="2400" b="1" dirty="0">
                <a:latin typeface="Calibri" panose="020F0502020204030204" pitchFamily="34" charset="0"/>
                <a:ea typeface="Calibri" panose="020F0502020204030204" pitchFamily="34" charset="0"/>
                <a:cs typeface="Calibri" panose="020F0502020204030204" pitchFamily="34" charset="0"/>
              </a:rPr>
              <a:t>3. Feature Impact Understanding: </a:t>
            </a:r>
          </a:p>
          <a:p>
            <a:pPr marL="285750" indent="-28575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 Initially, it was difficult to understand which features were influencing the predictions. </a:t>
            </a:r>
          </a:p>
          <a:p>
            <a:pPr marL="285750" indent="-28575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This challenge was solved using SHAP analysis, which helped identify important features like vibration and temperature.</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152730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21F7E3-71F8-7C83-C623-BFFAA52BB832}"/>
              </a:ext>
            </a:extLst>
          </p:cNvPr>
          <p:cNvSpPr txBox="1"/>
          <p:nvPr/>
        </p:nvSpPr>
        <p:spPr>
          <a:xfrm>
            <a:off x="2045109" y="1268361"/>
            <a:ext cx="9320981" cy="4661276"/>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The model results made it easier to understand turbine performance and identify critical failure patterns</a:t>
            </a:r>
          </a:p>
          <a:p>
            <a:pPr marL="285750" indent="-285750" algn="just">
              <a:lnSpc>
                <a:spcPct val="150000"/>
              </a:lnSpc>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Overall, the system provided a clear and effective approach for monitoring turbine health and improving maintenance decisions.</a:t>
            </a:r>
          </a:p>
          <a:p>
            <a:pPr marL="285750" indent="-285750" algn="just">
              <a:lnSpc>
                <a:spcPct val="150000"/>
              </a:lnSpc>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The analysis highlights that data-driven techniques are essential for predicting failures, optimizing performance, and reducing operational risks.</a:t>
            </a:r>
          </a:p>
          <a:p>
            <a:pPr marL="285750" indent="-285750" algn="just">
              <a:lnSpc>
                <a:spcPct val="150000"/>
              </a:lnSpc>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Key features like vibration and temperature played a major role in accurately detecting turbine failures.</a:t>
            </a:r>
          </a:p>
          <a:p>
            <a:pPr marL="285750" indent="-285750" algn="just">
              <a:lnSpc>
                <a:spcPct val="150000"/>
              </a:lnSpc>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The project demonstrates how machine learning can be effectively applied for real-time industrial monitoring and predictive maintenance.</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CC12681D-58AC-B838-7AC1-4216D2DAE4A9}"/>
              </a:ext>
            </a:extLst>
          </p:cNvPr>
          <p:cNvSpPr txBox="1"/>
          <p:nvPr/>
        </p:nvSpPr>
        <p:spPr>
          <a:xfrm>
            <a:off x="4404851" y="200813"/>
            <a:ext cx="4080387" cy="707886"/>
          </a:xfrm>
          <a:prstGeom prst="rect">
            <a:avLst/>
          </a:prstGeom>
          <a:noFill/>
        </p:spPr>
        <p:txBody>
          <a:bodyPr wrap="square" rtlCol="0">
            <a:spAutoFit/>
          </a:body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CONCLUSION</a:t>
            </a:r>
            <a:endParaRPr lang="en-IN" sz="40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271922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Parallax</Template>
  <TotalTime>60</TotalTime>
  <Words>800</Words>
  <Application>Microsoft Office PowerPoint</Application>
  <PresentationFormat>Widescreen</PresentationFormat>
  <Paragraphs>56</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Corbel</vt:lpstr>
      <vt:lpstr>Wingdings</vt:lpstr>
      <vt:lpstr>Parallax</vt:lpstr>
      <vt:lpstr>TURBINE HEALTH MONITORING AND FAILURE FORECASTING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Tedlapu Abhinav</dc:creator>
  <cp:lastModifiedBy>Tedlapu Abhinav</cp:lastModifiedBy>
  <cp:revision>2</cp:revision>
  <dcterms:created xsi:type="dcterms:W3CDTF">2026-04-17T05:30:31Z</dcterms:created>
  <dcterms:modified xsi:type="dcterms:W3CDTF">2026-04-17T10:50:14Z</dcterms:modified>
</cp:coreProperties>
</file>